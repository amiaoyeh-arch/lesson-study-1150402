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E67E22"/>
                </a:solidFill>
                <a:latin typeface="微軟正黑體"/>
              </a:rPr>
              <a:t>Slide 1/18 ｜ 課例研究成果報告（30分鐘）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2C3E50"/>
                </a:solidFill>
                <a:latin typeface="微軟正黑體"/>
              </a:rPr>
              <a:t>幾何邏輯與同儕鷹架的共舞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7F8C8D"/>
                </a:solidFill>
                <a:latin typeface="微軟正黑體"/>
              </a:rPr>
              <a:t>— 從「神祕幾何之花」看國小五年級數學課堂教學實踐與反思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19072"/>
            <a:ext cx="59436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8600" bIns="228600"/>
          <a:lstStyle/>
          <a:p>
            <a:pPr algn="ctr">
              <a:lnSpc>
                <a:spcPct val="122000"/>
              </a:lnSpc>
              <a:spcAft>
                <a:spcPts val="1400"/>
              </a:spcAft>
            </a:pPr>
            <a:r>
              <a:rPr sz="14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400">
                <a:solidFill>
                  <a:srgbClr val="2F3640"/>
                </a:solidFill>
                <a:latin typeface="微軟正黑體"/>
              </a:rPr>
              <a:t>發表人：葉姿妙 老師（新北市三芝國小 / 學習共同體輔導團）</a:t>
            </a:r>
          </a:p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4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400">
                <a:solidFill>
                  <a:srgbClr val="2F3640"/>
                </a:solidFill>
                <a:latin typeface="微軟正黑體"/>
              </a:rPr>
              <a:t>研究單元：國小五年級數學（扇形單元 S-5-3 / 幾何之花探究）</a:t>
            </a:r>
          </a:p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4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400">
                <a:solidFill>
                  <a:srgbClr val="2F3640"/>
                </a:solidFill>
                <a:latin typeface="微軟正黑體"/>
              </a:rPr>
              <a:t>課堂演進歷程：1150402（502班 區級公開課）➔ 1150407（504班 滾動修正課）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4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400">
                <a:solidFill>
                  <a:srgbClr val="2F3640"/>
                </a:solidFill>
                <a:latin typeface="微軟正黑體"/>
              </a:rPr>
              <a:t>核心理念：美感與理性的交織、空間結構閱讀理解、同儕鷹架與流動的善意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719072"/>
            <a:ext cx="45720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ver_anime_17892782158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2780201"/>
            <a:ext cx="4389120" cy="24497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95A5A6"/>
                </a:solidFill>
                <a:latin typeface="微軟正黑體"/>
              </a:rPr>
              <a:t>頁次 1 / 18 ｜ 新北市三芝國小 學習共同體公開課課例研究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E67E22"/>
                </a:solidFill>
                <a:latin typeface="微軟正黑體"/>
              </a:rPr>
              <a:t>Slide 2/18 ｜ 第一單元：緣起與設計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2C3E50"/>
                </a:solidFill>
                <a:latin typeface="微軟正黑體"/>
              </a:rPr>
              <a:t>課例研究緣起與核心問題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7F8C8D"/>
                </a:solidFill>
                <a:latin typeface="微軟正黑體"/>
              </a:rPr>
              <a:t>為什麼選擇五年級「扇形」？從視覺表象到空間幾何邏輯的跨越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19072"/>
            <a:ext cx="59436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8600" bIns="228600"/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200">
                <a:solidFill>
                  <a:srgbClr val="2F3640"/>
                </a:solidFill>
                <a:latin typeface="微軟正黑體"/>
              </a:rPr>
              <a:t>五年級學生的認知轉折：從具象圖形走向抽象空間關係與幾何逆推。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200">
                <a:solidFill>
                  <a:srgbClr val="2F3640"/>
                </a:solidFill>
                <a:latin typeface="微軟正黑體"/>
              </a:rPr>
              <a:t>傳統教學的困境：學生常依賴公式死記「圓心角/360」，面對複合圖形時不知從何拆解。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200">
                <a:solidFill>
                  <a:srgbClr val="2F3640"/>
                </a:solidFill>
                <a:latin typeface="微軟正黑體"/>
              </a:rPr>
              <a:t>空間結構的閱讀理解：扇形並非獨立圖塊，而是「圓的動態軌跡（圓心 + 半徑 + 弧）」之組合。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200">
                <a:solidFill>
                  <a:srgbClr val="2F3640"/>
                </a:solidFill>
                <a:latin typeface="微軟正黑體"/>
              </a:rPr>
              <a:t>研究核心問題（Research Questions）：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latin typeface="微軟正黑體"/>
              </a:rPr>
              <a:t>   </a:t>
            </a:r>
            <a:r>
              <a:rPr sz="1200">
                <a:solidFill>
                  <a:srgbClr val="2F3640"/>
                </a:solidFill>
                <a:latin typeface="微軟正黑體"/>
              </a:rPr>
              <a:t>  1. 如何設計挑戰性任務（Jumping Task），引發學生自發性的幾何逆推？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1">
                <a:latin typeface="微軟正黑體"/>
              </a:rPr>
              <a:t>   </a:t>
            </a:r>
            <a:r>
              <a:rPr sz="1200">
                <a:solidFill>
                  <a:srgbClr val="2F3640"/>
                </a:solidFill>
                <a:latin typeface="微軟正黑體"/>
              </a:rPr>
              <a:t>  2. 當學生陷入空間迷思與卡關時，教師與同儕鷹架如何有效介入？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719072"/>
            <a:ext cx="45720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eometric_flower_anime_17892782343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2780201"/>
            <a:ext cx="4389120" cy="24497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95A5A6"/>
                </a:solidFill>
                <a:latin typeface="微軟正黑體"/>
              </a:rPr>
              <a:t>頁次 2 / 18 ｜ 新北市三芝國小 學習共同體公開課課例研究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E67E22"/>
                </a:solidFill>
                <a:latin typeface="微軟正黑體"/>
              </a:rPr>
              <a:t>Slide 3/18 ｜ 第一單元：理念架構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2C3E50"/>
                </a:solidFill>
                <a:latin typeface="微軟正黑體"/>
              </a:rPr>
              <a:t>核心理念：UbD 與學習共同體的交會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7F8C8D"/>
                </a:solidFill>
                <a:latin typeface="微軟正黑體"/>
              </a:rPr>
              <a:t>以理解為先的課程設計（UbD）✕ 聆聽、串聯與伸展跳躍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19072"/>
            <a:ext cx="59436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8600" bIns="228600"/>
          <a:lstStyle/>
          <a:p>
            <a:pPr algn="ctr">
              <a:lnSpc>
                <a:spcPct val="116000"/>
              </a:lnSpc>
              <a:spcAft>
                <a:spcPts val="900"/>
              </a:spcAft>
            </a:pPr>
            <a:r>
              <a:rPr sz="13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300">
                <a:solidFill>
                  <a:srgbClr val="2F3640"/>
                </a:solidFill>
                <a:latin typeface="微軟正黑體"/>
              </a:rPr>
              <a:t>UbD（重理解的課程設計）：從「終點目標」逆向設計，追求幾何本質的深層理解。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300">
                <a:solidFill>
                  <a:srgbClr val="2F3640"/>
                </a:solidFill>
                <a:latin typeface="微軟正黑體"/>
              </a:rPr>
              <a:t>學習共同體三大支柱：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00" b="1">
                <a:latin typeface="微軟正黑體"/>
              </a:rPr>
              <a:t>   </a:t>
            </a:r>
            <a:r>
              <a:rPr sz="1300">
                <a:solidFill>
                  <a:srgbClr val="2F3640"/>
                </a:solidFill>
                <a:latin typeface="微軟正黑體"/>
              </a:rPr>
              <a:t>  • 聆聽的關係：建立安全的課堂心理環境，珍視每一個真實的錯誤與卡點。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00" b="1">
                <a:latin typeface="微軟正黑體"/>
              </a:rPr>
              <a:t>   </a:t>
            </a:r>
            <a:r>
              <a:rPr sz="1300">
                <a:solidFill>
                  <a:srgbClr val="2F3640"/>
                </a:solidFill>
                <a:latin typeface="微軟正黑體"/>
              </a:rPr>
              <a:t>  • 協同學習：非個人單打獨鬥，透過小組對話激盪多元幾何觀點。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00" b="1">
                <a:latin typeface="微軟正黑體"/>
              </a:rPr>
              <a:t>   </a:t>
            </a:r>
            <a:r>
              <a:rPr sz="1300">
                <a:solidFill>
                  <a:srgbClr val="2F3640"/>
                </a:solidFill>
                <a:latin typeface="微軟正黑體"/>
              </a:rPr>
              <a:t>  • 伸展跳躍（The Leap）：設計高於現有程度的挑戰性任務，促成認知質變。</a:t>
            </a:r>
          </a:p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3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300">
                <a:solidFill>
                  <a:srgbClr val="2F3640"/>
                </a:solidFill>
                <a:latin typeface="微軟正黑體"/>
              </a:rPr>
              <a:t>教學重心的轉向：從教師的「教」，全面轉向學生的「學習在哪裡發生、在哪裡中斷」。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719072"/>
            <a:ext cx="45720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ver_anime_17892782158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2780201"/>
            <a:ext cx="4389120" cy="24497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95A5A6"/>
                </a:solidFill>
                <a:latin typeface="微軟正黑體"/>
              </a:rPr>
              <a:t>頁次 3 / 18 ｜ 新北市三芝國小 學習共同體公開課課例研究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E67E22"/>
                </a:solidFill>
                <a:latin typeface="微軟正黑體"/>
              </a:rPr>
              <a:t>Slide 4/18 ｜ 第一單元：任務設計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2C3E50"/>
                </a:solidFill>
                <a:latin typeface="微軟正黑體"/>
              </a:rPr>
              <a:t>挑戰性任務：神祕的「幾何之花」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7F8C8D"/>
                </a:solidFill>
                <a:latin typeface="微軟正黑體"/>
              </a:rPr>
              <a:t>日本傳統「七寶紋」（Shippo Pattern）的數學幾何轉化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19072"/>
            <a:ext cx="59436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8600" bIns="228600"/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200">
                <a:solidFill>
                  <a:srgbClr val="2F3640"/>
                </a:solidFill>
                <a:latin typeface="微軟正黑體"/>
              </a:rPr>
              <a:t>任務情境：在 12 cm × 12 cm 的正方形框架內，給予一張神秘的幾何花紋。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200">
                <a:solidFill>
                  <a:srgbClr val="2F3640"/>
                </a:solidFill>
                <a:latin typeface="微軟正黑體"/>
              </a:rPr>
              <a:t>任務要求：小組合作利用直尺、圓規與量角器，在白紙上精確繪製出這個圖形。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200">
                <a:solidFill>
                  <a:srgbClr val="2F3640"/>
                </a:solidFill>
                <a:latin typeface="微軟正黑體"/>
              </a:rPr>
              <a:t>背後的幾何密碼（Hidden Mathematics）：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latin typeface="微軟正黑體"/>
              </a:rPr>
              <a:t>   </a:t>
            </a:r>
            <a:r>
              <a:rPr sz="1200">
                <a:solidFill>
                  <a:srgbClr val="2F3640"/>
                </a:solidFill>
                <a:latin typeface="微軟正黑體"/>
              </a:rPr>
              <a:t>  • 正方形邊長 12 cm ➔ 每個弧的半徑恰好是 6 cm（邊長的一半）。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latin typeface="微軟正黑體"/>
              </a:rPr>
              <a:t>   </a:t>
            </a:r>
            <a:r>
              <a:rPr sz="1200">
                <a:solidFill>
                  <a:srgbClr val="2F3640"/>
                </a:solidFill>
                <a:latin typeface="微軟正黑體"/>
              </a:rPr>
              <a:t>  • 四片交疊的葉片，其圓心並不在正方形內部，而是隱藏在正方形的四個「頂點」！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1">
                <a:latin typeface="微軟正黑體"/>
              </a:rPr>
              <a:t>   </a:t>
            </a:r>
            <a:r>
              <a:rPr sz="1200">
                <a:solidFill>
                  <a:srgbClr val="2F3640"/>
                </a:solidFill>
                <a:latin typeface="微軟正黑體"/>
              </a:rPr>
              <a:t>  • 挑戰點：學生必須從表象的「弧線」，逆向推導回「圓心在哪裡？半徑多長？」。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719072"/>
            <a:ext cx="45720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eometric_flower_anime_17892782343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2780201"/>
            <a:ext cx="4389120" cy="24497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95A5A6"/>
                </a:solidFill>
                <a:latin typeface="微軟正黑體"/>
              </a:rPr>
              <a:t>頁次 4 / 18 ｜ 新北市三芝國小 學習共同體公開課課例研究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E67E22"/>
                </a:solidFill>
                <a:latin typeface="微軟正黑體"/>
              </a:rPr>
              <a:t>Slide 5/18 ｜ 第二單元：502班實踐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2C3E50"/>
                </a:solidFill>
                <a:latin typeface="微軟正黑體"/>
              </a:rPr>
              <a:t>第一次實踐（1150402 / 502班）：課堂現場與卡點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7F8C8D"/>
                </a:solidFill>
                <a:latin typeface="微軟正黑體"/>
              </a:rPr>
              <a:t>空白方格紙上的巨大挫折與盲目試錯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19072"/>
            <a:ext cx="59436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8600" bIns="228600"/>
          <a:lstStyle/>
          <a:p>
            <a:pPr algn="ctr">
              <a:lnSpc>
                <a:spcPct val="116000"/>
              </a:lnSpc>
              <a:spcAft>
                <a:spcPts val="900"/>
              </a:spcAft>
            </a:pPr>
            <a:r>
              <a:rPr sz="13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300">
                <a:solidFill>
                  <a:srgbClr val="2F3640"/>
                </a:solidFill>
                <a:latin typeface="微軟正黑體"/>
              </a:rPr>
              <a:t>公開課現場氛圍：任務一下達，502班的孩子們面對空白方格紙陷入沈思與騷動。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300">
                <a:solidFill>
                  <a:srgbClr val="2F3640"/>
                </a:solidFill>
                <a:latin typeface="微軟正黑體"/>
              </a:rPr>
              <a:t>試錯盤旋現象：多數孩子處於「盲目操作」狀態，拿著圓規在紙上反覆亂戳。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300">
                <a:solidFill>
                  <a:srgbClr val="2F3640"/>
                </a:solidFill>
                <a:latin typeface="微軟正黑體"/>
              </a:rPr>
              <a:t>真實課堂觀察：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00" b="1">
                <a:latin typeface="微軟正黑體"/>
              </a:rPr>
              <a:t>   </a:t>
            </a:r>
            <a:r>
              <a:rPr sz="1300">
                <a:solidFill>
                  <a:srgbClr val="2F3640"/>
                </a:solidFill>
                <a:latin typeface="微軟正黑體"/>
              </a:rPr>
              <a:t>  • 孩子們直覺認為「既然花在中間，圓心一定在正方形的正中心」。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00" b="1">
                <a:latin typeface="微軟正黑體"/>
              </a:rPr>
              <a:t>   </a:t>
            </a:r>
            <a:r>
              <a:rPr sz="1300">
                <a:solidFill>
                  <a:srgbClr val="2F3640"/>
                </a:solidFill>
                <a:latin typeface="微軟正黑體"/>
              </a:rPr>
              <a:t>  • 有的孩子拿量角器試圖當成弧線描邊工具；有的拿著圖卡當拼圖比對。</a:t>
            </a:r>
          </a:p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300" b="1">
                <a:latin typeface="微軟正黑體"/>
              </a:rPr>
              <a:t>   </a:t>
            </a:r>
            <a:r>
              <a:rPr sz="1300">
                <a:solidFill>
                  <a:srgbClr val="2F3640"/>
                </a:solidFill>
                <a:latin typeface="微軟正黑體"/>
              </a:rPr>
              <a:t>  • 課堂在前 20 分鐘陷入大量的無效試錯，缺乏幾何邏輯的支點。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719072"/>
            <a:ext cx="45720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truggle_502_anime_17892782629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2780201"/>
            <a:ext cx="4389120" cy="24497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95A5A6"/>
                </a:solidFill>
                <a:latin typeface="微軟正黑體"/>
              </a:rPr>
              <a:t>頁次 5 / 18 ｜ 新北市三芝國小 學習共同體公開課課例研究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E67E22"/>
                </a:solidFill>
                <a:latin typeface="微軟正黑體"/>
              </a:rPr>
              <a:t>Slide 6/18 ｜ 第二單元：迷思分析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2C3E50"/>
                </a:solidFill>
                <a:latin typeface="微軟正黑體"/>
              </a:rPr>
              <a:t>臨床診斷：502班三大典型認知迷思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7F8C8D"/>
                </a:solidFill>
                <a:latin typeface="微軟正黑體"/>
              </a:rPr>
              <a:t>從學生的「錯誤操作」揭示深層認知結構的斷層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19072"/>
            <a:ext cx="59436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8600" bIns="228600"/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200">
                <a:solidFill>
                  <a:srgbClr val="2F3640"/>
                </a:solidFill>
                <a:latin typeface="微軟正黑體"/>
              </a:rPr>
              <a:t>1. 誤用量角器畫弧（幾何定義缺失）：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latin typeface="微軟正黑體"/>
              </a:rPr>
              <a:t>   </a:t>
            </a:r>
            <a:r>
              <a:rPr sz="1200">
                <a:solidFill>
                  <a:srgbClr val="2F3640"/>
                </a:solidFill>
                <a:latin typeface="微軟正黑體"/>
              </a:rPr>
              <a:t>   • 試圖用量角器旋轉 360 度或直接描邊，將工具視為繪畫模板而非幾何軌跡產生器。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200">
                <a:solidFill>
                  <a:srgbClr val="2F3640"/>
                </a:solidFill>
                <a:latin typeface="微軟正黑體"/>
              </a:rPr>
              <a:t>2. 圓心定在肚子中心（空間慣性受困）：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latin typeface="微軟正黑體"/>
              </a:rPr>
              <a:t>   </a:t>
            </a:r>
            <a:r>
              <a:rPr sz="1200">
                <a:solidFill>
                  <a:srgbClr val="2F3640"/>
                </a:solidFill>
                <a:latin typeface="微軟正黑體"/>
              </a:rPr>
              <a:t>   • 堅信圓規針腳必須戳在正方形正中央，受限於封閉式圖形「中心對稱」的思考慣性。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200">
                <a:solidFill>
                  <a:srgbClr val="2F3640"/>
                </a:solidFill>
                <a:latin typeface="微軟正黑體"/>
              </a:rPr>
              <a:t>3. 盲目測距依樣畫葫蘆（閱讀理解缺陷）：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1">
                <a:latin typeface="微軟正黑體"/>
              </a:rPr>
              <a:t>   </a:t>
            </a:r>
            <a:r>
              <a:rPr sz="1200">
                <a:solidFill>
                  <a:srgbClr val="2F3640"/>
                </a:solidFill>
                <a:latin typeface="微軟正黑體"/>
              </a:rPr>
              <a:t>   • 缺乏將複合圖形拆解為「圓心+半徑」的結構化能力，未能建立「邊長 12cm 與半徑 6cm」的數量連結。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719072"/>
            <a:ext cx="45720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w_502_sampl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2453616"/>
            <a:ext cx="4389120" cy="31029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95A5A6"/>
                </a:solidFill>
                <a:latin typeface="微軟正黑體"/>
              </a:rPr>
              <a:t>頁次 6 / 18 ｜ 新北市三芝國小 學習共同體公開課課例研究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E67E22"/>
                </a:solidFill>
                <a:latin typeface="微軟正黑體"/>
              </a:rPr>
              <a:t>Slide 7/18 ｜ 第二單元：議課焦點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2C3E50"/>
                </a:solidFill>
                <a:latin typeface="微軟正黑體"/>
              </a:rPr>
              <a:t>502班觀課與議課反思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7F8C8D"/>
                </a:solidFill>
                <a:latin typeface="微軟正黑體"/>
              </a:rPr>
              <a:t>輔導團與觀課教師的集體智慧：發現「十字輔助線」的干擾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19072"/>
            <a:ext cx="59436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8600" bIns="228600"/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200">
                <a:solidFill>
                  <a:srgbClr val="2F3640"/>
                </a:solidFill>
                <a:latin typeface="微軟正黑體"/>
              </a:rPr>
              <a:t>議課關鍵發現一：圖形輔助線的誤導（十字線的干擾）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latin typeface="微軟正黑體"/>
              </a:rPr>
              <a:t>   </a:t>
            </a:r>
            <a:r>
              <a:rPr sz="1200">
                <a:solidFill>
                  <a:srgbClr val="2F3640"/>
                </a:solidFill>
                <a:latin typeface="微軟正黑體"/>
              </a:rPr>
              <a:t>  • 原本教材在正方形中畫了十字架分割線，本意是輔助定位，卻意外強化了學生「中心點是唯一圓心」的先入為主迷思。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200">
                <a:solidFill>
                  <a:srgbClr val="2F3640"/>
                </a:solidFill>
                <a:latin typeface="微軟正黑體"/>
              </a:rPr>
              <a:t>議課關鍵發現二：語言鷹架的斷層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latin typeface="微軟正黑體"/>
              </a:rPr>
              <a:t>   </a:t>
            </a:r>
            <a:r>
              <a:rPr sz="1200">
                <a:solidFill>
                  <a:srgbClr val="2F3640"/>
                </a:solidFill>
                <a:latin typeface="微軟正黑體"/>
              </a:rPr>
              <a:t>  • 學生用生活語言說「尖尖的地方」，教師未能在第一時間搭起橋樑轉譯為「頂點」與「圓心」。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200">
                <a:solidFill>
                  <a:srgbClr val="2F3640"/>
                </a:solidFill>
                <a:latin typeface="微軟正黑體"/>
              </a:rPr>
              <a:t>議課關鍵發現三：視覺解構的需求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1">
                <a:latin typeface="微軟正黑體"/>
              </a:rPr>
              <a:t>   </a:t>
            </a:r>
            <a:r>
              <a:rPr sz="1200">
                <a:solidFill>
                  <a:srgbClr val="2F3640"/>
                </a:solidFill>
                <a:latin typeface="微軟正黑體"/>
              </a:rPr>
              <a:t>  • 整個圖形一次丟出來太複雜，需要動態視覺鷹架引導學生「聚焦於單片葉片」的本質。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719072"/>
            <a:ext cx="45720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iscuss_reflection_anime_17892786088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2780201"/>
            <a:ext cx="4389120" cy="24497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95A5A6"/>
                </a:solidFill>
                <a:latin typeface="微軟正黑體"/>
              </a:rPr>
              <a:t>頁次 7 / 18 ｜ 新北市三芝國小 學習共同體公開課課例研究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E67E22"/>
                </a:solidFill>
                <a:latin typeface="微軟正黑體"/>
              </a:rPr>
              <a:t>Slide 8/18 ｜ 第三單元：兩班滾動修正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2C3E50"/>
                </a:solidFill>
                <a:latin typeface="微軟正黑體"/>
              </a:rPr>
              <a:t>教學設計的演進與重構（502 ➔ 504）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7F8C8D"/>
                </a:solidFill>
                <a:latin typeface="微軟正黑體"/>
              </a:rPr>
              <a:t>兩次教案與學習單設計的實質對比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19072"/>
            <a:ext cx="59436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8600" bIns="228600"/>
          <a:lstStyle/>
          <a:p>
            <a:pPr algn="ctr">
              <a:lnSpc>
                <a:spcPct val="122000"/>
              </a:lnSpc>
              <a:spcAft>
                <a:spcPts val="1400"/>
              </a:spcAft>
            </a:pPr>
            <a:r>
              <a:rPr sz="14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400">
                <a:solidFill>
                  <a:srgbClr val="2F3640"/>
                </a:solidFill>
                <a:latin typeface="微軟正黑體"/>
              </a:rPr>
              <a:t>任務圖形調整：從「含有十字輔助線」改為「全面去除十字線」，還原純粹幾何輪廓。</a:t>
            </a:r>
          </a:p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4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400">
                <a:solidFill>
                  <a:srgbClr val="2F3640"/>
                </a:solidFill>
                <a:latin typeface="微軟正黑體"/>
              </a:rPr>
              <a:t>視覺鷹架升級：從「靜態全圖挑戰」改為「單片葉片分解動畫」，動態抽離展示。</a:t>
            </a:r>
          </a:p>
          <a:p>
            <a:pPr>
              <a:lnSpc>
                <a:spcPct val="122000"/>
              </a:lnSpc>
              <a:spcAft>
                <a:spcPts val="1400"/>
              </a:spcAft>
            </a:pPr>
            <a:r>
              <a:rPr sz="14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400">
                <a:solidFill>
                  <a:srgbClr val="2F3640"/>
                </a:solidFill>
                <a:latin typeface="微軟正黑體"/>
              </a:rPr>
              <a:t>教師引導精準化：建構「引導語錦囊（Linking &amp; Returning）」，對焦尖尖角即頂點、手臂為半徑。</a:t>
            </a:r>
          </a:p>
          <a:p>
            <a:pPr>
              <a:lnSpc>
                <a:spcPct val="122000"/>
              </a:lnSpc>
              <a:spcAft>
                <a:spcPts val="0"/>
              </a:spcAft>
            </a:pPr>
            <a:r>
              <a:rPr sz="14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400">
                <a:solidFill>
                  <a:srgbClr val="2F3640"/>
                </a:solidFill>
                <a:latin typeface="微軟正黑體"/>
              </a:rPr>
              <a:t>科技即時輔助：導入「平板拍照 + AirDrop 大屏投射」，促進組間多觀點即時激盪。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719072"/>
            <a:ext cx="45720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8_repl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2772572"/>
            <a:ext cx="4389120" cy="2465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95A5A6"/>
                </a:solidFill>
                <a:latin typeface="微軟正黑體"/>
              </a:rPr>
              <a:t>頁次 8 / 18 ｜ 新北市三芝國小 學習共同體公開課課例研究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E67E22"/>
                </a:solidFill>
                <a:latin typeface="微軟正黑體"/>
              </a:rPr>
              <a:t>Slide 9/18 ｜ 第三單元：關鍵策略一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2C3E50"/>
                </a:solidFill>
                <a:latin typeface="微軟正黑體"/>
              </a:rPr>
              <a:t>關鍵轉化一：去十字線與單片葉片分解動畫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7F8C8D"/>
                </a:solidFill>
                <a:latin typeface="微軟正黑體"/>
              </a:rPr>
              <a:t>去蕪存菁：讓扇形結構（圓心角、半徑、弧）清晰浮現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19072"/>
            <a:ext cx="59436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8600" bIns="228600"/>
          <a:lstStyle/>
          <a:p>
            <a:pPr algn="ctr">
              <a:lnSpc>
                <a:spcPct val="116000"/>
              </a:lnSpc>
              <a:spcAft>
                <a:spcPts val="900"/>
              </a:spcAft>
            </a:pPr>
            <a:r>
              <a:rPr sz="13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300">
                <a:solidFill>
                  <a:srgbClr val="2F3640"/>
                </a:solidFill>
                <a:latin typeface="微軟正黑體"/>
              </a:rPr>
              <a:t>視覺解構的力量：透過簡報動畫將單片「葉片」從複雜花紋中抽離放大。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300">
                <a:solidFill>
                  <a:srgbClr val="2F3640"/>
                </a:solidFill>
                <a:latin typeface="微軟正黑體"/>
              </a:rPr>
              <a:t>核心提問驅動思考：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00" b="1">
                <a:latin typeface="微軟正黑體"/>
              </a:rPr>
              <a:t>   </a:t>
            </a:r>
            <a:r>
              <a:rPr sz="1300">
                <a:solidFill>
                  <a:srgbClr val="2F3640"/>
                </a:solidFill>
                <a:latin typeface="微軟正黑體"/>
              </a:rPr>
              <a:t>  • 「這片葉片是由哪幾個扇形組成的？」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00" b="1">
                <a:latin typeface="微軟正黑體"/>
              </a:rPr>
              <a:t>   </a:t>
            </a:r>
            <a:r>
              <a:rPr sz="1300">
                <a:solidFill>
                  <a:srgbClr val="2F3640"/>
                </a:solidFill>
                <a:latin typeface="微軟正黑體"/>
              </a:rPr>
              <a:t>  • 「它的兩條弧線分別是以哪裡為圓心畫出來的？」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00" b="1">
                <a:latin typeface="微軟正黑體"/>
              </a:rPr>
              <a:t>   </a:t>
            </a:r>
            <a:r>
              <a:rPr sz="1300">
                <a:solidFill>
                  <a:srgbClr val="2F3640"/>
                </a:solidFill>
                <a:latin typeface="微軟正黑體"/>
              </a:rPr>
              <a:t>  • 「圓心角是幾度？半徑是多少公分？」</a:t>
            </a:r>
          </a:p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3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300">
                <a:solidFill>
                  <a:srgbClr val="2F3640"/>
                </a:solidFill>
                <a:latin typeface="微軟正黑體"/>
              </a:rPr>
              <a:t>空間認知的瞬間清晰：學生立刻看見葉片是「兩個以對角頂點為圓心、半徑 6 cm 的 1/4 圓弧交疊區域」，直擊扇形本質。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719072"/>
            <a:ext cx="45720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9_img0800_ani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2770632"/>
            <a:ext cx="4389120" cy="2468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95A5A6"/>
                </a:solidFill>
                <a:latin typeface="微軟正黑體"/>
              </a:rPr>
              <a:t>頁次 9 / 18 ｜ 新北市三芝國小 學習共同體公開課課例研究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E67E22"/>
                </a:solidFill>
                <a:latin typeface="微軟正黑體"/>
              </a:rPr>
              <a:t>Slide 10/18 ｜ 第三單元：關鍵策略二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2C3E50"/>
                </a:solidFill>
                <a:latin typeface="微軟正黑體"/>
              </a:rPr>
              <a:t>關鍵轉化二：引導語錦囊與概念串聯（Linking）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7F8C8D"/>
                </a:solidFill>
                <a:latin typeface="微軟正黑體"/>
              </a:rPr>
              <a:t>教師專業語言轉譯與「手臂轉動」具身體感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19072"/>
            <a:ext cx="59436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8600" bIns="228600"/>
          <a:lstStyle/>
          <a:p>
            <a:pPr algn="ctr">
              <a:lnSpc>
                <a:spcPct val="116000"/>
              </a:lnSpc>
              <a:spcAft>
                <a:spcPts val="900"/>
              </a:spcAft>
            </a:pPr>
            <a:r>
              <a:rPr sz="13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300">
                <a:solidFill>
                  <a:srgbClr val="2F3640"/>
                </a:solidFill>
                <a:latin typeface="微軟正黑體"/>
              </a:rPr>
              <a:t>串聯（Linking）的藝術：將學生的生活日常語言，自然轉譯為嚴謹的幾何術語。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00" b="1">
                <a:latin typeface="微軟正黑體"/>
              </a:rPr>
              <a:t>   </a:t>
            </a:r>
            <a:r>
              <a:rPr sz="1300">
                <a:solidFill>
                  <a:srgbClr val="2F3640"/>
                </a:solidFill>
                <a:latin typeface="微軟正黑體"/>
              </a:rPr>
              <a:t>  • 學生指著角說：「老師，就是那個尖尖角！」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00" b="1">
                <a:latin typeface="微軟正黑體"/>
              </a:rPr>
              <a:t>   </a:t>
            </a:r>
            <a:r>
              <a:rPr sz="1300">
                <a:solidFill>
                  <a:srgbClr val="2F3640"/>
                </a:solidFill>
                <a:latin typeface="微軟正黑體"/>
              </a:rPr>
              <a:t>  • 教師溫柔串聯：「在數學上，這個尖尖角就是正方形的頂點，也是圓心喔！」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300">
                <a:solidFill>
                  <a:srgbClr val="2F3640"/>
                </a:solidFill>
                <a:latin typeface="微軟正黑體"/>
              </a:rPr>
              <a:t>回歸（Returning）本質：引導學生思考「扇形一定是圓的一部分」，圓規針腳所在就是圓心。</a:t>
            </a:r>
          </a:p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3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300">
                <a:solidFill>
                  <a:srgbClr val="2F3640"/>
                </a:solidFill>
                <a:latin typeface="微軟正黑體"/>
              </a:rPr>
              <a:t>身體感知的隱喻：「把肩膀當圓心、手臂當半徑轉一圈」，建立深刻的具身體驗。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719072"/>
            <a:ext cx="45720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lide10_eureka_black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2780201"/>
            <a:ext cx="4389120" cy="24497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95A5A6"/>
                </a:solidFill>
                <a:latin typeface="微軟正黑體"/>
              </a:rPr>
              <a:t>頁次 10 / 18 ｜ 新北市三芝國小 學習共同體公開課課例研究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E67E22"/>
                </a:solidFill>
                <a:latin typeface="微軟正黑體"/>
              </a:rPr>
              <a:t>Slide 11/18 ｜ 第三單元：關鍵策略三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2C3E50"/>
                </a:solidFill>
                <a:latin typeface="微軟正黑體"/>
              </a:rPr>
              <a:t>關鍵轉化三：數位科技即時鷹架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7F8C8D"/>
                </a:solidFill>
                <a:latin typeface="微軟正黑體"/>
              </a:rPr>
              <a:t>平板拍照、AirDrop 與大屏即時投射促進組間互學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19072"/>
            <a:ext cx="59436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8600" bIns="228600"/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200">
                <a:solidFill>
                  <a:srgbClr val="2F3640"/>
                </a:solidFill>
                <a:latin typeface="微軟正黑體"/>
              </a:rPr>
              <a:t>即時形成性評量（Real-time Formative Assessment）：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latin typeface="微軟正黑體"/>
              </a:rPr>
              <a:t>   </a:t>
            </a:r>
            <a:r>
              <a:rPr sz="1200">
                <a:solidFill>
                  <a:srgbClr val="2F3640"/>
                </a:solidFill>
                <a:latin typeface="微軟正黑體"/>
              </a:rPr>
              <a:t>  • 教師在巡視時，迅速將不同小組的繪圖歷程、半成品與典型錯誤用平板拍下。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latin typeface="微軟正黑體"/>
              </a:rPr>
              <a:t>   </a:t>
            </a:r>
            <a:r>
              <a:rPr sz="1200">
                <a:solidFill>
                  <a:srgbClr val="2F3640"/>
                </a:solidFill>
                <a:latin typeface="微軟正黑體"/>
              </a:rPr>
              <a:t>  • 透過 AirDrop 即時鏡像至教室前方大屏，同步展示多元解法。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200">
                <a:solidFill>
                  <a:srgbClr val="2F3640"/>
                </a:solidFill>
                <a:latin typeface="微軟正黑體"/>
              </a:rPr>
              <a:t>組間觀點激盪與對焦：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latin typeface="微軟正黑體"/>
              </a:rPr>
              <a:t>   </a:t>
            </a:r>
            <a:r>
              <a:rPr sz="1200">
                <a:solidFill>
                  <a:srgbClr val="2F3640"/>
                </a:solidFill>
                <a:latin typeface="微軟正黑體"/>
              </a:rPr>
              <a:t>  • 讓各組學生對比：「為什麼第 2 組畫的葉片飽滿，第 4 組畫的偏一邊？」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latin typeface="微軟正黑體"/>
              </a:rPr>
              <a:t>   </a:t>
            </a:r>
            <a:r>
              <a:rPr sz="1200">
                <a:solidFill>
                  <a:srgbClr val="2F3640"/>
                </a:solidFill>
                <a:latin typeface="微軟正黑體"/>
              </a:rPr>
              <a:t>  • 引導全班共同檢視「圓心位置」與「半徑開度」對圖形的因果影響。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1">
                <a:latin typeface="微軟正黑體"/>
              </a:rPr>
              <a:t>   </a:t>
            </a:r>
            <a:r>
              <a:rPr sz="1200">
                <a:solidFill>
                  <a:srgbClr val="2F3640"/>
                </a:solidFill>
                <a:latin typeface="微軟正黑體"/>
              </a:rPr>
              <a:t>  • 科技真正服務於學生「思維可視化」的鷹架。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719072"/>
            <a:ext cx="45720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dtech_airdrop_zh_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2780201"/>
            <a:ext cx="4389120" cy="24497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95A5A6"/>
                </a:solidFill>
                <a:latin typeface="微軟正黑體"/>
              </a:rPr>
              <a:t>頁次 11 / 18 ｜ 新北市三芝國小 學習共同體公開課課例研究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E67E22"/>
                </a:solidFill>
                <a:latin typeface="微軟正黑體"/>
              </a:rPr>
              <a:t>Slide 12/18 ｜ 第四單元：微觀風景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2C3E50"/>
                </a:solidFill>
                <a:latin typeface="微軟正黑體"/>
              </a:rPr>
              <a:t>微觀風景：學生學習行為矩陣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7F8C8D"/>
                </a:solidFill>
                <a:latin typeface="微軟正黑體"/>
              </a:rPr>
              <a:t>多元學習樣態在課堂中的交織與綻放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19072"/>
            <a:ext cx="59436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8600" bIns="228600"/>
          <a:lstStyle/>
          <a:p>
            <a:pPr algn="ctr">
              <a:lnSpc>
                <a:spcPct val="116000"/>
              </a:lnSpc>
              <a:spcAft>
                <a:spcPts val="900"/>
              </a:spcAft>
            </a:pPr>
            <a:r>
              <a:rPr sz="13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300">
                <a:solidFill>
                  <a:srgbClr val="2F3640"/>
                </a:solidFill>
                <a:latin typeface="微軟正黑體"/>
              </a:rPr>
              <a:t>直覺操作型（小恩）：透過高頻率試錯展現韌性，在同儕耐心引導下逐步走向邏輯定位。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300">
                <a:solidFill>
                  <a:srgbClr val="2F3640"/>
                </a:solidFill>
                <a:latin typeface="微軟正黑體"/>
              </a:rPr>
              <a:t>邏輯推演型（瑄瑄）：堅定捍衛十字輔助線邏輯，在組內辯證中釐清中心點與頂點的幾何功能差異。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300">
                <a:solidFill>
                  <a:srgbClr val="2F3640"/>
                </a:solidFill>
                <a:latin typeface="微軟正黑體"/>
              </a:rPr>
              <a:t>社會學習型（小妍、小珊）：精準聆聽、善於轉述，展現極高同理心，在協助同儕中深化認知。</a:t>
            </a:r>
          </a:p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3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300">
                <a:solidFill>
                  <a:srgbClr val="2F3640"/>
                </a:solidFill>
                <a:latin typeface="微軟正黑體"/>
              </a:rPr>
              <a:t>內向沉思型（小彥）：整節課安靜無語，但眼神專注，課後作業顯示已精準內化，沈默中學習真實發生。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719072"/>
            <a:ext cx="45720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iscuss_reflection_anime_17892786088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2780201"/>
            <a:ext cx="4389120" cy="24497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95A5A6"/>
                </a:solidFill>
                <a:latin typeface="微軟正黑體"/>
              </a:rPr>
              <a:t>頁次 12 / 18 ｜ 新北市三芝國小 學習共同體公開課課例研究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E67E22"/>
                </a:solidFill>
                <a:latin typeface="微軟正黑體"/>
              </a:rPr>
              <a:t>Slide 13/18 ｜ 第四單元：同儕鷹架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2C3E50"/>
                </a:solidFill>
                <a:latin typeface="微軟正黑體"/>
              </a:rPr>
              <a:t>同儕鷹架動人實錄一：小妍對小恩長達20分鐘的等待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7F8C8D"/>
                </a:solidFill>
                <a:latin typeface="微軟正黑體"/>
              </a:rPr>
              <a:t>「走得快的人要學會等待」— 學習共同體中最美的風景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19072"/>
            <a:ext cx="59436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8600" bIns="228600"/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200">
                <a:solidFill>
                  <a:srgbClr val="2F3640"/>
                </a:solidFill>
                <a:latin typeface="微軟正黑體"/>
              </a:rPr>
              <a:t>具層次感的陪伴歷程（20 分鐘的溫柔守護）：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latin typeface="微軟正黑體"/>
              </a:rPr>
              <a:t>   </a:t>
            </a:r>
            <a:r>
              <a:rPr sz="1200">
                <a:solidFill>
                  <a:srgbClr val="2F3640"/>
                </a:solidFill>
                <a:latin typeface="微軟正黑體"/>
              </a:rPr>
              <a:t>  • 課堂 15 分鐘：小妍迅速完成了自己的幾何圖形，主動轉向一旁卡關的小恩。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latin typeface="微軟正黑體"/>
              </a:rPr>
              <a:t>   </a:t>
            </a:r>
            <a:r>
              <a:rPr sz="1200">
                <a:solidFill>
                  <a:srgbClr val="2F3640"/>
                </a:solidFill>
                <a:latin typeface="微軟正黑體"/>
              </a:rPr>
              <a:t>  • 課堂 18 分鐘：輕聲提出提示：「小恩，你看這個角...」，給予小恩自主嘗試的時間。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latin typeface="微軟正黑體"/>
              </a:rPr>
              <a:t>   </a:t>
            </a:r>
            <a:r>
              <a:rPr sz="1200">
                <a:solidFill>
                  <a:srgbClr val="2F3640"/>
                </a:solidFill>
                <a:latin typeface="微軟正黑體"/>
              </a:rPr>
              <a:t>  • 課堂 25 分鐘：小恩經歷失敗，小妍依然不直接給答案，耐心地陪他一起檢查半徑。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latin typeface="微軟正黑體"/>
              </a:rPr>
              <a:t>   </a:t>
            </a:r>
            <a:r>
              <a:rPr sz="1200">
                <a:solidFill>
                  <a:srgbClr val="2F3640"/>
                </a:solidFill>
                <a:latin typeface="微軟正黑體"/>
              </a:rPr>
              <a:t>  • 課堂 35 分鐘：臨近下課，看到小恩圓規轉軸鬆脫，小妍主動跨組借來好用圓規，陪伴小恩畫下最後一筆。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200">
                <a:solidFill>
                  <a:srgbClr val="2F3640"/>
                </a:solidFill>
                <a:latin typeface="微軟正黑體"/>
              </a:rPr>
              <a:t>這長達 20 分鐘的等待與支持，超越了數學，展現了最純粹的人性之美。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719072"/>
            <a:ext cx="45720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xiaoyan_xiaoen_anime_17892783424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2780201"/>
            <a:ext cx="4389120" cy="24497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95A5A6"/>
                </a:solidFill>
                <a:latin typeface="微軟正黑體"/>
              </a:rPr>
              <a:t>頁次 13 / 18 ｜ 新北市三芝國小 學習共同體公開課課例研究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E67E22"/>
                </a:solidFill>
                <a:latin typeface="微軟正黑體"/>
              </a:rPr>
              <a:t>Slide 14/18 ｜ 第四單元：同儕鷹架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2C3E50"/>
                </a:solidFill>
                <a:latin typeface="微軟正黑體"/>
              </a:rPr>
              <a:t>同儕鷹架動人實錄二：小珊對小輝的溫柔賦權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7F8C8D"/>
                </a:solidFill>
                <a:latin typeface="微軟正黑體"/>
              </a:rPr>
              <a:t>「可以請你拿筆描出你想表達的嗎？」— 不剝奪學習權的高級溝通素養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19072"/>
            <a:ext cx="59436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8600" bIns="228600"/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200">
                <a:solidFill>
                  <a:srgbClr val="2F3640"/>
                </a:solidFill>
                <a:latin typeface="微軟正黑體"/>
              </a:rPr>
              <a:t>面對弱勢學生的溝通智慧：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latin typeface="微軟正黑體"/>
              </a:rPr>
              <a:t>   </a:t>
            </a:r>
            <a:r>
              <a:rPr sz="1200">
                <a:solidFill>
                  <a:srgbClr val="2F3640"/>
                </a:solidFill>
                <a:latin typeface="微軟正黑體"/>
              </a:rPr>
              <a:t>  • 小輝在數學學習上較為弱勢，表達也較為退縮害羞。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latin typeface="微軟正黑體"/>
              </a:rPr>
              <a:t>   </a:t>
            </a:r>
            <a:r>
              <a:rPr sz="1200">
                <a:solidFill>
                  <a:srgbClr val="2F3640"/>
                </a:solidFill>
                <a:latin typeface="微軟正黑體"/>
              </a:rPr>
              <a:t>  • 一般同儕可能會直接幫他畫完或搶過筆，但小珊展現了極高素養。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200">
                <a:solidFill>
                  <a:srgbClr val="2F3640"/>
                </a:solidFill>
                <a:latin typeface="微軟正黑體"/>
              </a:rPr>
              <a:t>溫柔賦權的對話：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latin typeface="微軟正黑體"/>
              </a:rPr>
              <a:t>   </a:t>
            </a:r>
            <a:r>
              <a:rPr sz="1200">
                <a:solidFill>
                  <a:srgbClr val="2F3640"/>
                </a:solidFill>
                <a:latin typeface="微軟正黑體"/>
              </a:rPr>
              <a:t>  • 小珊看著小輝雜亂的草稿，溫柔地問：「我想理解你的想法。可以請你拿筆描出你想表達的嗎？」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latin typeface="微軟正黑體"/>
              </a:rPr>
              <a:t>   </a:t>
            </a:r>
            <a:r>
              <a:rPr sz="1200">
                <a:solidFill>
                  <a:srgbClr val="2F3640"/>
                </a:solidFill>
                <a:latin typeface="微軟正黑體"/>
              </a:rPr>
              <a:t>  • 這一句話，把學習與表達的主權牢牢放在小輝手中，讓他感受到被尊重與被聆聽。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200">
                <a:solidFill>
                  <a:srgbClr val="2F3640"/>
                </a:solidFill>
                <a:latin typeface="微軟正黑體"/>
              </a:rPr>
              <a:t>小輝勇敢拿起了筆，指出了他所看到的弧線，跨出了自信的第一步。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719072"/>
            <a:ext cx="45720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xiaoshan_xiaohui_z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2780201"/>
            <a:ext cx="4389120" cy="24497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95A5A6"/>
                </a:solidFill>
                <a:latin typeface="微軟正黑體"/>
              </a:rPr>
              <a:t>頁次 14 / 18 ｜ 新北市三芝國小 學習共同體公開課課例研究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E67E22"/>
                </a:solidFill>
                <a:latin typeface="微軟正黑體"/>
              </a:rPr>
              <a:t>Slide 15/18 ｜ 第四單元：頓悟躍升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2C3E50"/>
                </a:solidFill>
                <a:latin typeface="微軟正黑體"/>
              </a:rPr>
              <a:t>頓悟時刻（The Leap）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7F8C8D"/>
                </a:solidFill>
                <a:latin typeface="微軟正黑體"/>
              </a:rPr>
              <a:t>從「尖尖角達到那個角了！」到幾何作圖步驟系統化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19072"/>
            <a:ext cx="59436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8600" bIns="228600"/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200">
                <a:solidFill>
                  <a:srgbClr val="2F3640"/>
                </a:solidFill>
                <a:latin typeface="微軟正黑體"/>
              </a:rPr>
              <a:t>Aha! 領悟的瞬間：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latin typeface="微軟正黑體"/>
              </a:rPr>
              <a:t>   </a:t>
            </a:r>
            <a:r>
              <a:rPr sz="1200">
                <a:solidFill>
                  <a:srgbClr val="2F3640"/>
                </a:solidFill>
                <a:latin typeface="微軟正黑體"/>
              </a:rPr>
              <a:t>  • 當學生突然驚呼：「尖尖角達到那個角了！」那一刻，全組發出歡呼。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latin typeface="微軟正黑體"/>
              </a:rPr>
              <a:t>   </a:t>
            </a:r>
            <a:r>
              <a:rPr sz="1200">
                <a:solidFill>
                  <a:srgbClr val="2F3640"/>
                </a:solidFill>
                <a:latin typeface="微軟正黑體"/>
              </a:rPr>
              <a:t>  • 幾何邏輯從原先的混沌迷茫，瞬間跨入「圓心即頂點、半徑即邊長一半」的清澈領悟。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200">
                <a:solidFill>
                  <a:srgbClr val="2F3640"/>
                </a:solidFill>
                <a:latin typeface="微軟正黑體"/>
              </a:rPr>
              <a:t>從頓悟到程序性知識的建構：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latin typeface="微軟正黑體"/>
              </a:rPr>
              <a:t>   </a:t>
            </a:r>
            <a:r>
              <a:rPr sz="1200">
                <a:solidFill>
                  <a:srgbClr val="2F3640"/>
                </a:solidFill>
                <a:latin typeface="微軟正黑體"/>
              </a:rPr>
              <a:t>  • 教師隨即引導學生將操作步驟文字化與條列化：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200">
                <a:solidFill>
                  <a:srgbClr val="2F3640"/>
                </a:solidFill>
                <a:latin typeface="微軟正黑體"/>
              </a:rPr>
              <a:t>    1. 找出 12 cm 正方形的四個頂點。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200">
                <a:solidFill>
                  <a:srgbClr val="2F3640"/>
                </a:solidFill>
                <a:latin typeface="微軟正黑體"/>
              </a:rPr>
              <a:t>    2. 將圓規開度設定為 6 cm（半徑）。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200">
                <a:solidFill>
                  <a:srgbClr val="2F3640"/>
                </a:solidFill>
                <a:latin typeface="微軟正黑體"/>
              </a:rPr>
              <a:t>    3. 分別以四個頂點為圓心，在正方形內畫出四段 1/4 圓弧。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200">
                <a:solidFill>
                  <a:srgbClr val="2F3640"/>
                </a:solidFill>
                <a:latin typeface="微軟正黑體"/>
              </a:rPr>
              <a:t>瞬時的頓悟成功轉化為牢固的幾何認知架構。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719072"/>
            <a:ext cx="45720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ureka_leap_z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2780201"/>
            <a:ext cx="4389120" cy="24497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95A5A6"/>
                </a:solidFill>
                <a:latin typeface="微軟正黑體"/>
              </a:rPr>
              <a:t>頁次 15 / 18 ｜ 新北市三芝國小 學習共同體公開課課例研究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E67E22"/>
                </a:solidFill>
                <a:latin typeface="微軟正黑體"/>
              </a:rPr>
              <a:t>Slide 16/18 ｜ 第五單元：專業反思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2C3E50"/>
                </a:solidFill>
                <a:latin typeface="微軟正黑體"/>
              </a:rPr>
              <a:t>專業反思：把學習主權還給孩子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7F8C8D"/>
                </a:solidFill>
                <a:latin typeface="微軟正黑體"/>
              </a:rPr>
              <a:t>「卡關」是主動建構意義（Sense-making）最珍貴的起點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19072"/>
            <a:ext cx="59436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8600" bIns="228600"/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200">
                <a:solidFill>
                  <a:srgbClr val="2F3640"/>
                </a:solidFill>
                <a:latin typeface="微軟正黑體"/>
              </a:rPr>
              <a:t>教師角色的自我省思：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latin typeface="微軟正黑體"/>
              </a:rPr>
              <a:t>   </a:t>
            </a:r>
            <a:r>
              <a:rPr sz="1200">
                <a:solidFill>
                  <a:srgbClr val="2F3640"/>
                </a:solidFill>
                <a:latin typeface="微軟正黑體"/>
              </a:rPr>
              <a:t>  • 少講很多話：學會「忍耐」，克制住直接講授公式的衝動，給予孩子充分試錯的時空。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latin typeface="微軟正黑體"/>
              </a:rPr>
              <a:t>   </a:t>
            </a:r>
            <a:r>
              <a:rPr sz="1200">
                <a:solidFill>
                  <a:srgbClr val="2F3640"/>
                </a:solidFill>
                <a:latin typeface="微軟正黑體"/>
              </a:rPr>
              <a:t>  • 創造安全的試錯空間：在課堂中，錯誤不是失敗，而是暴露認知卡點、促進深層討論的契機。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latin typeface="微軟正黑體"/>
              </a:rPr>
              <a:t>   </a:t>
            </a:r>
            <a:r>
              <a:rPr sz="1200">
                <a:solidFill>
                  <a:srgbClr val="2F3640"/>
                </a:solidFill>
                <a:latin typeface="微軟正黑體"/>
              </a:rPr>
              <a:t>  • 允許「沈默的學習」發生：像小彥這樣的孩子，安靜並不代表沒有思考，教師應具備看見沈默中深層學習的敏銳度。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200">
                <a:solidFill>
                  <a:srgbClr val="2F3640"/>
                </a:solidFill>
                <a:latin typeface="微軟正黑體"/>
              </a:rPr>
              <a:t>教學伸展設計展望：後續可設計「若圓心移到邊的中點，花紋會如何變化？」進一步拓展空間想像。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719072"/>
            <a:ext cx="45720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G_08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2469768"/>
            <a:ext cx="4389120" cy="30706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95A5A6"/>
                </a:solidFill>
                <a:latin typeface="微軟正黑體"/>
              </a:rPr>
              <a:t>頁次 16 / 18 ｜ 新北市三芝國小 學習共同體公開課課例研究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E67E22"/>
                </a:solidFill>
                <a:latin typeface="微軟正黑體"/>
              </a:rPr>
              <a:t>Slide 17/18 ｜ 第五單元：核心價值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2C3E50"/>
                </a:solidFill>
                <a:latin typeface="微軟正黑體"/>
              </a:rPr>
              <a:t>社會情緒學習（SEL）與幾何理性的共舞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7F8C8D"/>
                </a:solidFill>
                <a:latin typeface="微軟正黑體"/>
              </a:rPr>
              <a:t>看見三芝國小「流動的善意」— 數學課堂的情感溫度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19072"/>
            <a:ext cx="59436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8600" bIns="228600"/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200">
                <a:solidFill>
                  <a:srgbClr val="2F3640"/>
                </a:solidFill>
                <a:latin typeface="微軟正黑體"/>
              </a:rPr>
              <a:t>數學課不僅是邏輯，更是社會情緒學習（SEL）：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latin typeface="微軟正黑體"/>
              </a:rPr>
              <a:t>   </a:t>
            </a:r>
            <a:r>
              <a:rPr sz="1200">
                <a:solidFill>
                  <a:srgbClr val="2F3640"/>
                </a:solidFill>
                <a:latin typeface="微軟正黑體"/>
              </a:rPr>
              <a:t>  • 自我覺察與韌性：小恩在無數次畫歪的挫折中，依然一次次拿起圓規嘗試。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latin typeface="微軟正黑體"/>
              </a:rPr>
              <a:t>   </a:t>
            </a:r>
            <a:r>
              <a:rPr sz="1200">
                <a:solidFill>
                  <a:srgbClr val="2F3640"/>
                </a:solidFill>
                <a:latin typeface="微軟正黑體"/>
              </a:rPr>
              <a:t>  • 同理心與社會覺察：小妍與小珊展現出對同儕節奏的尊重與無私支援。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latin typeface="微軟正黑體"/>
              </a:rPr>
              <a:t>   </a:t>
            </a:r>
            <a:r>
              <a:rPr sz="1200">
                <a:solidFill>
                  <a:srgbClr val="2F3640"/>
                </a:solidFill>
                <a:latin typeface="微軟正黑體"/>
              </a:rPr>
              <a:t>  • 關係建立與協作技能：孩子們在爭辯與合作中，學會了傾聽、等待與賦權。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200">
                <a:solidFill>
                  <a:srgbClr val="2F3640"/>
                </a:solidFill>
                <a:latin typeface="微軟正黑體"/>
              </a:rPr>
              <a:t>流動的善意（Flow of Kindness）：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200">
                <a:solidFill>
                  <a:srgbClr val="2F3640"/>
                </a:solidFill>
                <a:latin typeface="微軟正黑體"/>
              </a:rPr>
              <a:t>在真實的錯誤中，孩子們學會了理性的辯證，更體會了感性的陪伴。這份流動的善意，是學習共同體最堅固的社會資本。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719072"/>
            <a:ext cx="45720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losing_flower_anime_17892785877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2780201"/>
            <a:ext cx="4389120" cy="24497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95A5A6"/>
                </a:solidFill>
                <a:latin typeface="微軟正黑體"/>
              </a:rPr>
              <a:t>頁次 17 / 18 ｜ 新北市三芝國小 學習共同體公開課課例研究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E67E22"/>
                </a:solidFill>
                <a:latin typeface="微軟正黑體"/>
              </a:rPr>
              <a:t>Slide 18/18 ｜ 第五單元：結語致謝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2C3E50"/>
                </a:solidFill>
                <a:latin typeface="微軟正黑體"/>
              </a:rPr>
              <a:t>結語與致謝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>
                <a:solidFill>
                  <a:srgbClr val="7F8C8D"/>
                </a:solidFill>
                <a:latin typeface="微軟正黑體"/>
              </a:rPr>
              <a:t>守護學習的溫度，陪伴每個孩子綻放理性與人性之美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19072"/>
            <a:ext cx="59436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8600" bIns="228600"/>
          <a:lstStyle/>
          <a:p>
            <a:pPr algn="ctr">
              <a:lnSpc>
                <a:spcPct val="128000"/>
              </a:lnSpc>
              <a:spcAft>
                <a:spcPts val="2000"/>
              </a:spcAft>
            </a:pPr>
            <a:r>
              <a:rPr sz="155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550">
                <a:solidFill>
                  <a:srgbClr val="2F3640"/>
                </a:solidFill>
                <a:latin typeface="微軟正黑體"/>
              </a:rPr>
              <a:t>「在幾何的邏輯中，慢慢綻放屬於自己的理性與人性之美。」</a:t>
            </a:r>
          </a:p>
          <a:p>
            <a:pPr>
              <a:lnSpc>
                <a:spcPct val="128000"/>
              </a:lnSpc>
              <a:spcAft>
                <a:spcPts val="2000"/>
              </a:spcAft>
            </a:pPr>
            <a:r>
              <a:rPr sz="155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550">
                <a:solidFill>
                  <a:srgbClr val="2F3640"/>
                </a:solidFill>
                <a:latin typeface="微軟正黑體"/>
              </a:rPr>
              <a:t>感謝 新北市學習共同體輔導團 的專業引領</a:t>
            </a:r>
          </a:p>
          <a:p>
            <a:pPr>
              <a:lnSpc>
                <a:spcPct val="128000"/>
              </a:lnSpc>
              <a:spcAft>
                <a:spcPts val="2000"/>
              </a:spcAft>
            </a:pPr>
            <a:r>
              <a:rPr sz="155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550">
                <a:solidFill>
                  <a:srgbClr val="2F3640"/>
                </a:solidFill>
                <a:latin typeface="微軟正黑體"/>
              </a:rPr>
              <a:t>感謝 榮明杰校長 的蒞校指導與深度議課</a:t>
            </a:r>
          </a:p>
          <a:p>
            <a:pPr>
              <a:lnSpc>
                <a:spcPct val="128000"/>
              </a:lnSpc>
              <a:spcAft>
                <a:spcPts val="2000"/>
              </a:spcAft>
            </a:pPr>
            <a:r>
              <a:rPr sz="155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550">
                <a:solidFill>
                  <a:srgbClr val="2F3640"/>
                </a:solidFill>
                <a:latin typeface="微軟正黑體"/>
              </a:rPr>
              <a:t>感謝 三芝國小 502班、504班 孩子們帶來的課堂感動</a:t>
            </a:r>
          </a:p>
          <a:p>
            <a:pPr>
              <a:lnSpc>
                <a:spcPct val="128000"/>
              </a:lnSpc>
              <a:spcAft>
                <a:spcPts val="0"/>
              </a:spcAft>
            </a:pPr>
            <a:r>
              <a:rPr sz="1550" b="1">
                <a:solidFill>
                  <a:srgbClr val="E67E22"/>
                </a:solidFill>
                <a:latin typeface="微軟正黑體"/>
              </a:rPr>
              <a:t>✦ </a:t>
            </a:r>
            <a:r>
              <a:rPr sz="1550">
                <a:solidFill>
                  <a:srgbClr val="2F3640"/>
                </a:solidFill>
                <a:latin typeface="微軟正黑體"/>
              </a:rPr>
              <a:t>報告完畢・敬請指教與交流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719072"/>
            <a:ext cx="45720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D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losing_photo_ani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2770632"/>
            <a:ext cx="4389120" cy="2468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>
                <a:solidFill>
                  <a:srgbClr val="95A5A6"/>
                </a:solidFill>
                <a:latin typeface="微軟正黑體"/>
              </a:rPr>
              <a:t>頁次 18 / 18 ｜ 新北市三芝國小 學習共同體公開課課例研究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